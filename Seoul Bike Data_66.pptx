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notesMasterIdLst>
    <p:notesMasterId r:id="rId19"/>
  </p:notesMasterIdLst>
  <p:sldIdLst>
    <p:sldId id="278" r:id="rId2"/>
    <p:sldId id="280" r:id="rId3"/>
    <p:sldId id="279" r:id="rId4"/>
    <p:sldId id="276" r:id="rId5"/>
    <p:sldId id="277" r:id="rId6"/>
    <p:sldId id="281" r:id="rId7"/>
    <p:sldId id="264" r:id="rId8"/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8B84CC-F696-490F-A304-FBC4D7AD4F13}" v="33" dt="2026-03-21T11:36:00.5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85855A-0B95-40AC-858C-70D8003C934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FD0E57-413B-4126-A65D-BAD54C9AF4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55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FD0E57-413B-4126-A65D-BAD54C9AF4E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985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FD0E57-413B-4126-A65D-BAD54C9AF4E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899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1BC03-24F2-ED5B-369D-EF1B9AB133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5329B0-1F35-62F2-5539-C47304ED2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8E3B0-7851-E4F5-E29A-BBCBF3F6C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B2AE-AA39-42F9-9D61-97161AFB92B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98F92-525A-B48A-C740-E073AA968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7765C-7AEF-86E5-46D2-F7199B51D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DD5AD-D76D-4277-8A13-EFDE778E24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678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F21E8-2E18-ECE0-065E-0489B9635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43339-E080-8417-C3B2-51B59FD1E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B9C74-FF3A-45AD-5855-94F9DA697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B2AE-AA39-42F9-9D61-97161AFB92B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D25F8-2C27-891C-962C-99924A135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4ADF7-0911-B158-8C92-02AECF147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DD5AD-D76D-4277-8A13-EFDE778E24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336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32995-1ED2-E4DE-80E3-30AEDD860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C868C-E88C-CCF0-7A6D-925C0A611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E2C12-7F73-6C09-95DA-729A17809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B2AE-AA39-42F9-9D61-97161AFB92B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0C4C4-12A2-11A7-5F57-0F1BBB30E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34269-0FC3-2106-320D-691B997DB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DD5AD-D76D-4277-8A13-EFDE778E24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315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4E158-837A-A9B3-82CA-1D2227DD6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44A61-3E47-895C-7359-F5B2AB1E5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B9BD5-CCA3-1F59-5FD4-29918D8E24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7E3D31-594D-A568-5696-1811F2CCA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B2AE-AA39-42F9-9D61-97161AFB92B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AAF856-E11F-7061-09AF-890ADF7B5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81C85-6E82-BDB6-3935-669060914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DD5AD-D76D-4277-8A13-EFDE778E24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758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CAB07-D2E5-858D-D21C-27B455572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8D7A4-BA23-E8A1-E606-ABC6E7612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C51A3-C8AE-3C24-1F0D-7581C7DFB4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F3B81A-A0A6-E025-3804-C0B546C8D2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587BE5-EF66-0ABB-08F3-C6D35D1CB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3B8939-4004-EE43-0B52-F67273330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B2AE-AA39-42F9-9D61-97161AFB92B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94346A-7AB5-3858-A5A5-13996189B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482CD3-BAFC-1ADD-0323-DCAE959BC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DD5AD-D76D-4277-8A13-EFDE778E24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422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D7CD6-5068-5914-FF51-690045BF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A7362-4777-162E-C21C-20ADABF26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B2AE-AA39-42F9-9D61-97161AFB92B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0080B4-EEF8-5A6F-ECE5-3185F8E1D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DF0C20-82F2-E2C9-EA1B-F2FF8223C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DD5AD-D76D-4277-8A13-EFDE778E24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113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A15D3A-C73C-8A22-A7B4-CE453591F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B2AE-AA39-42F9-9D61-97161AFB92B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B29FB2-5F7A-9DBD-422F-9C06F9484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FE97A-4BC1-7C78-C122-773B48B0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DD5AD-D76D-4277-8A13-EFDE778E24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216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7F28B-5FFD-170C-E124-854D46CAB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8E27B-200B-523D-CDFF-65DD99F8C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9EDE4-C74A-2E53-C020-3E0748F0FF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ACF68-685E-B38C-F17F-34D8B12D0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B2AE-AA39-42F9-9D61-97161AFB92B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3985E5-1561-EB85-9EE8-8AADA122A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8B3B16-5D8E-1624-B089-7B7C04705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DD5AD-D76D-4277-8A13-EFDE778E24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582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646C-2515-1FD0-7CD0-60277376C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7E14B4-7531-F0B1-2ED8-E009704764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3E5554-4E6B-3B63-5015-837353ED4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F7A155-41B8-205D-550E-86DCB2D20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B2AE-AA39-42F9-9D61-97161AFB92B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E3222-B6EA-3419-03A0-6D395499F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3160A-6D75-13E8-AF97-4318F14AC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DD5AD-D76D-4277-8A13-EFDE778E24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16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644D7-7116-49C0-8FFE-F244DEBC4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9A2599-B36F-5051-5FB2-BF1C39601F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BABC8-CD8D-2BD1-6218-885FF2A0B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B2AE-AA39-42F9-9D61-97161AFB92B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2F825-69E7-743F-F3E8-C144CB124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5B368-CE18-DF75-5CE2-E2BB5FCEE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DD5AD-D76D-4277-8A13-EFDE778E24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709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AECAB6-9E83-A065-9EB5-1660E95325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8ECB6E-5ACA-03A4-3C9B-1D6AAEEF13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88227-09C7-D378-E5A1-91A879E08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B2AE-AA39-42F9-9D61-97161AFB92B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A3C1F-C519-33C9-8BDC-234D03F88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61179-67F7-E8EF-58A5-1CDDEEED4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DD5AD-D76D-4277-8A13-EFDE778E24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712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B11742-BE66-A24B-F208-C243A491B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204F8-B176-3C3E-61D7-A66842F93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5F60C-D521-A8BC-65C0-E4509E016B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28B2AE-AA39-42F9-9D61-97161AFB92B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C6037-537F-366E-80BA-BB6368D82C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62BD0-13EE-2855-EBB8-961874361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DD5AD-D76D-4277-8A13-EFDE778E24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704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308629-F765-A09C-AC5B-E774CEBBC6FD}"/>
              </a:ext>
            </a:extLst>
          </p:cNvPr>
          <p:cNvSpPr txBox="1"/>
          <p:nvPr/>
        </p:nvSpPr>
        <p:spPr>
          <a:xfrm>
            <a:off x="385894" y="419450"/>
            <a:ext cx="1150130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0B050"/>
                </a:solidFill>
              </a:rPr>
              <a:t>Seoul Bike Dataset </a:t>
            </a:r>
          </a:p>
          <a:p>
            <a:pPr algn="ctr"/>
            <a:r>
              <a:rPr lang="en-US" sz="4400" b="1" dirty="0">
                <a:solidFill>
                  <a:srgbClr val="00B050"/>
                </a:solidFill>
              </a:rPr>
              <a:t>Exploratory Data Analysis(EDA)</a:t>
            </a:r>
            <a:endParaRPr lang="en-IN" sz="4400" b="1" dirty="0">
              <a:solidFill>
                <a:srgbClr val="00B05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F1BDCB-FE97-C530-CFCE-32CDFC74C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860" y="2055247"/>
            <a:ext cx="7399090" cy="40980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76144B-4761-D591-214E-405BC4FBF9EF}"/>
              </a:ext>
            </a:extLst>
          </p:cNvPr>
          <p:cNvSpPr txBox="1"/>
          <p:nvPr/>
        </p:nvSpPr>
        <p:spPr>
          <a:xfrm>
            <a:off x="-260059" y="6342517"/>
            <a:ext cx="12306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Presented by : Geeta Sanjay Torane                                         Guided by : Abhishek </a:t>
            </a:r>
            <a:r>
              <a:rPr lang="en-US" sz="2000" b="1" dirty="0" err="1">
                <a:solidFill>
                  <a:schemeClr val="accent2">
                    <a:lumMod val="50000"/>
                  </a:schemeClr>
                </a:solidFill>
              </a:rPr>
              <a:t>Wavhal</a:t>
            </a:r>
            <a:endParaRPr lang="en-IN" sz="2000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008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47D3B4-521F-A8C2-8BA8-4C67C9478129}"/>
              </a:ext>
            </a:extLst>
          </p:cNvPr>
          <p:cNvSpPr txBox="1"/>
          <p:nvPr/>
        </p:nvSpPr>
        <p:spPr>
          <a:xfrm>
            <a:off x="847290" y="143055"/>
            <a:ext cx="1028490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sz="2000" b="1" dirty="0"/>
              <a:t>Project Summary </a:t>
            </a:r>
            <a:r>
              <a:rPr lang="en-US" sz="2000" dirty="0"/>
              <a:t>: 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The  Seoul Bike Data  project 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highlights how weather and time factors shape bike rental demand in the city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.  By analyzing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hourly data 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with features like 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temperature, humidity, rainfall, snowfall, and holiday indicators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.  The study shows that  rentals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peak during commuting hours, rise in summer and autumn, and drop sharply in bad weather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. The temperature and seasonality emerging as the most influential drivers. Overall, the project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provides clear  insights to improve bike availability, support urban mobility, and promote sustainable transport in Seoul</a:t>
            </a:r>
            <a:r>
              <a:rPr lang="en-US" sz="2000" b="1" dirty="0"/>
              <a:t>.</a:t>
            </a:r>
            <a:endParaRPr lang="en-IN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8468F4-FEE0-366D-26F2-339B21A871F8}"/>
              </a:ext>
            </a:extLst>
          </p:cNvPr>
          <p:cNvSpPr txBox="1"/>
          <p:nvPr/>
        </p:nvSpPr>
        <p:spPr>
          <a:xfrm>
            <a:off x="922791" y="2389824"/>
            <a:ext cx="1020940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sz="2000" b="1" dirty="0"/>
              <a:t>Problem Statement </a:t>
            </a:r>
            <a:r>
              <a:rPr lang="en-US" sz="2000" dirty="0"/>
              <a:t>:  </a:t>
            </a:r>
            <a:r>
              <a:rPr lang="en-US" sz="2000" dirty="0">
                <a:solidFill>
                  <a:srgbClr val="C00000"/>
                </a:solidFill>
              </a:rPr>
              <a:t>The core problem addressed in the Seoul Bike dataset is the  </a:t>
            </a:r>
            <a:r>
              <a:rPr lang="en-US" sz="2000" b="1" dirty="0">
                <a:solidFill>
                  <a:srgbClr val="C00000"/>
                </a:solidFill>
              </a:rPr>
              <a:t>challenge of predicting hourly rental demand so that bikes are available when and where people need them</a:t>
            </a:r>
            <a:r>
              <a:rPr lang="en-US" sz="2000" dirty="0">
                <a:solidFill>
                  <a:srgbClr val="C00000"/>
                </a:solidFill>
              </a:rPr>
              <a:t>. </a:t>
            </a:r>
            <a:r>
              <a:rPr lang="en-US" sz="2000" b="1" dirty="0">
                <a:solidFill>
                  <a:srgbClr val="C00000"/>
                </a:solidFill>
              </a:rPr>
              <a:t>Demand fluctuates </a:t>
            </a:r>
            <a:r>
              <a:rPr lang="en-US" sz="2000" dirty="0">
                <a:solidFill>
                  <a:srgbClr val="C00000"/>
                </a:solidFill>
              </a:rPr>
              <a:t>based on </a:t>
            </a:r>
            <a:r>
              <a:rPr lang="en-US" sz="2000" b="1" dirty="0">
                <a:solidFill>
                  <a:srgbClr val="C00000"/>
                </a:solidFill>
              </a:rPr>
              <a:t>weather conditions, seasons, holidays, and commuting hours, </a:t>
            </a:r>
            <a:r>
              <a:rPr lang="en-US" sz="2000" dirty="0">
                <a:solidFill>
                  <a:srgbClr val="C00000"/>
                </a:solidFill>
              </a:rPr>
              <a:t>making it difficult to maintain an optimal supply. </a:t>
            </a:r>
            <a:r>
              <a:rPr lang="en-US" sz="2000" b="1" dirty="0">
                <a:solidFill>
                  <a:srgbClr val="C00000"/>
                </a:solidFill>
              </a:rPr>
              <a:t>Without accurate forecasting, users may face shortages during peak times or excess bikes during low demand periods. </a:t>
            </a:r>
            <a:r>
              <a:rPr lang="en-US" sz="2000" dirty="0">
                <a:solidFill>
                  <a:srgbClr val="C00000"/>
                </a:solidFill>
              </a:rPr>
              <a:t> This project  aims to build reliable prediction models that help optimize bike distribution, improve urban mobility, and </a:t>
            </a:r>
            <a:r>
              <a:rPr lang="en-US" sz="2000" b="1" dirty="0">
                <a:solidFill>
                  <a:srgbClr val="C00000"/>
                </a:solidFill>
              </a:rPr>
              <a:t>support sustainable transportation planning in Seoul</a:t>
            </a:r>
            <a:r>
              <a:rPr lang="en-US" b="1" dirty="0">
                <a:solidFill>
                  <a:srgbClr val="C00000"/>
                </a:solidFill>
              </a:rPr>
              <a:t>.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74004F-B65E-F93D-1C88-F48456CA2A94}"/>
              </a:ext>
            </a:extLst>
          </p:cNvPr>
          <p:cNvSpPr txBox="1"/>
          <p:nvPr/>
        </p:nvSpPr>
        <p:spPr>
          <a:xfrm>
            <a:off x="922790" y="4944369"/>
            <a:ext cx="1013390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Business objective </a:t>
            </a:r>
            <a:r>
              <a:rPr lang="en-US" sz="2000" dirty="0"/>
              <a:t>:   </a:t>
            </a:r>
            <a:r>
              <a:rPr lang="en-US" sz="2000" dirty="0">
                <a:solidFill>
                  <a:srgbClr val="002060"/>
                </a:solidFill>
              </a:rPr>
              <a:t>Seoul Bike dataset project is to  accurately </a:t>
            </a:r>
            <a:r>
              <a:rPr lang="en-US" sz="2000" b="1" dirty="0">
                <a:solidFill>
                  <a:srgbClr val="002060"/>
                </a:solidFill>
              </a:rPr>
              <a:t>forecast hourly rental demand </a:t>
            </a:r>
            <a:r>
              <a:rPr lang="en-US" sz="2000" dirty="0">
                <a:solidFill>
                  <a:srgbClr val="002060"/>
                </a:solidFill>
              </a:rPr>
              <a:t>so that bike availability matches user needs across different times and weather conditions. By </a:t>
            </a:r>
            <a:r>
              <a:rPr lang="en-US" sz="2000" b="1" dirty="0">
                <a:solidFill>
                  <a:srgbClr val="002060"/>
                </a:solidFill>
              </a:rPr>
              <a:t>reduce shortages during peak hours</a:t>
            </a:r>
            <a:r>
              <a:rPr lang="en-US" sz="2000" dirty="0">
                <a:solidFill>
                  <a:srgbClr val="002060"/>
                </a:solidFill>
              </a:rPr>
              <a:t>, and </a:t>
            </a:r>
            <a:r>
              <a:rPr lang="en-US" sz="2000" b="1" dirty="0">
                <a:solidFill>
                  <a:srgbClr val="002060"/>
                </a:solidFill>
              </a:rPr>
              <a:t>avoid excess supply during low-demand periods</a:t>
            </a:r>
            <a:r>
              <a:rPr lang="en-US" sz="2000" dirty="0">
                <a:solidFill>
                  <a:srgbClr val="002060"/>
                </a:solidFill>
              </a:rPr>
              <a:t>. Ultimately, this </a:t>
            </a:r>
            <a:r>
              <a:rPr lang="en-US" sz="2000" b="1" dirty="0">
                <a:solidFill>
                  <a:srgbClr val="002060"/>
                </a:solidFill>
              </a:rPr>
              <a:t>supports  efficient urban mobility planning , enhances customer satisfaction</a:t>
            </a:r>
            <a:r>
              <a:rPr lang="en-US" sz="2000" dirty="0">
                <a:solidFill>
                  <a:srgbClr val="002060"/>
                </a:solidFill>
              </a:rPr>
              <a:t>, and promotes sustainable transportation solutions  in Seoul</a:t>
            </a:r>
            <a:r>
              <a:rPr lang="en-US" sz="2000" dirty="0"/>
              <a:t>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36395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87202B-1083-5121-C2E0-B39978ED1387}"/>
              </a:ext>
            </a:extLst>
          </p:cNvPr>
          <p:cNvSpPr txBox="1"/>
          <p:nvPr/>
        </p:nvSpPr>
        <p:spPr>
          <a:xfrm>
            <a:off x="352338" y="1015352"/>
            <a:ext cx="5368953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chemeClr val="accent4">
                    <a:lumMod val="75000"/>
                  </a:schemeClr>
                </a:solidFill>
                <a:effectLst/>
                <a:latin typeface="Arial Rounded MT Bold" panose="020F0704030504030204" pitchFamily="34" charset="0"/>
              </a:rPr>
              <a:t>1.Rented Bike Count  = </a:t>
            </a:r>
            <a:r>
              <a:rPr lang="en-US" sz="1600" b="0" i="0" dirty="0">
                <a:solidFill>
                  <a:schemeClr val="accent4">
                    <a:lumMod val="75000"/>
                  </a:schemeClr>
                </a:solidFill>
                <a:effectLst/>
                <a:latin typeface="Arial Rounded MT Bold" panose="020F0704030504030204" pitchFamily="34" charset="0"/>
              </a:rPr>
              <a:t>[254, 204, 173, 107, 78, 100, 181, 460, 930, 4...</a:t>
            </a:r>
          </a:p>
          <a:p>
            <a:r>
              <a:rPr lang="en-US" sz="1600" b="0" i="0" dirty="0">
                <a:solidFill>
                  <a:schemeClr val="accent4">
                    <a:lumMod val="75000"/>
                  </a:schemeClr>
                </a:solidFill>
                <a:effectLst/>
                <a:latin typeface="Arial Rounded MT Bold" panose="020F0704030504030204" pitchFamily="34" charset="0"/>
              </a:rPr>
              <a:t> </a:t>
            </a:r>
          </a:p>
          <a:p>
            <a:r>
              <a:rPr lang="en-US" sz="1600" b="1" i="0" dirty="0">
                <a:solidFill>
                  <a:schemeClr val="accent4">
                    <a:lumMod val="75000"/>
                  </a:schemeClr>
                </a:solidFill>
                <a:effectLst/>
                <a:latin typeface="Arial Rounded MT Bold" panose="020F0704030504030204" pitchFamily="34" charset="0"/>
              </a:rPr>
              <a:t>2.Hour =  </a:t>
            </a:r>
            <a:r>
              <a:rPr lang="en-US" sz="1600" b="0" i="0" dirty="0">
                <a:solidFill>
                  <a:schemeClr val="accent4">
                    <a:lumMod val="75000"/>
                  </a:schemeClr>
                </a:solidFill>
                <a:effectLst/>
                <a:latin typeface="Arial Rounded MT Bold" panose="020F0704030504030204" pitchFamily="34" charset="0"/>
              </a:rPr>
              <a:t>[0, 1, 2, 3, 4, 5, 6, 7, 8, 9, 10, 11, 12, 13,...</a:t>
            </a:r>
          </a:p>
          <a:p>
            <a:endParaRPr lang="en-US" sz="1600" dirty="0">
              <a:solidFill>
                <a:schemeClr val="accent4">
                  <a:lumMod val="75000"/>
                </a:schemeClr>
              </a:solidFill>
              <a:latin typeface="Arial Rounded MT Bold" panose="020F0704030504030204" pitchFamily="34" charset="0"/>
            </a:endParaRPr>
          </a:p>
          <a:p>
            <a:r>
              <a:rPr lang="en-US" sz="1600" b="1" i="0" dirty="0">
                <a:solidFill>
                  <a:schemeClr val="accent4">
                    <a:lumMod val="75000"/>
                  </a:schemeClr>
                </a:solidFill>
                <a:effectLst/>
                <a:latin typeface="Arial Rounded MT Bold" panose="020F0704030504030204" pitchFamily="34" charset="0"/>
              </a:rPr>
              <a:t>3. Temperature(°C)  = </a:t>
            </a:r>
            <a:r>
              <a:rPr lang="en-US" sz="1600" b="0" i="0" dirty="0">
                <a:solidFill>
                  <a:schemeClr val="accent4">
                    <a:lumMod val="75000"/>
                  </a:schemeClr>
                </a:solidFill>
                <a:effectLst/>
                <a:latin typeface="Arial Rounded MT Bold" panose="020F0704030504030204" pitchFamily="34" charset="0"/>
              </a:rPr>
              <a:t>[-5.2, -5.5, -6.0, -6.2, -6.4, -6.6, -7.4, -7....</a:t>
            </a:r>
          </a:p>
          <a:p>
            <a:r>
              <a:rPr lang="en-US" sz="1600" b="0" i="0" dirty="0">
                <a:solidFill>
                  <a:schemeClr val="accent4">
                    <a:lumMod val="75000"/>
                  </a:schemeClr>
                </a:solidFill>
                <a:effectLst/>
                <a:latin typeface="Arial Rounded MT Bold" panose="020F0704030504030204" pitchFamily="34" charset="0"/>
              </a:rPr>
              <a:t> </a:t>
            </a:r>
          </a:p>
          <a:p>
            <a:r>
              <a:rPr lang="en-US" sz="1600" b="1" i="0" dirty="0">
                <a:solidFill>
                  <a:schemeClr val="accent4">
                    <a:lumMod val="75000"/>
                  </a:schemeClr>
                </a:solidFill>
                <a:effectLst/>
                <a:latin typeface="Arial Rounded MT Bold" panose="020F0704030504030204" pitchFamily="34" charset="0"/>
              </a:rPr>
              <a:t>4.Humidity(%) =  </a:t>
            </a:r>
            <a:r>
              <a:rPr lang="en-US" sz="1600" b="0" i="0" dirty="0">
                <a:solidFill>
                  <a:schemeClr val="accent4">
                    <a:lumMod val="75000"/>
                  </a:schemeClr>
                </a:solidFill>
                <a:effectLst/>
                <a:latin typeface="Arial Rounded MT Bold" panose="020F0704030504030204" pitchFamily="34" charset="0"/>
              </a:rPr>
              <a:t>[37, 38, 39, 40, 36, 35, 27, 24, 21, 23, 25, 2...</a:t>
            </a:r>
          </a:p>
          <a:p>
            <a:endParaRPr lang="en-US" sz="1600" dirty="0">
              <a:solidFill>
                <a:schemeClr val="accent4">
                  <a:lumMod val="75000"/>
                </a:schemeClr>
              </a:solidFill>
              <a:latin typeface="Arial Rounded MT Bold" panose="020F0704030504030204" pitchFamily="34" charset="0"/>
            </a:endParaRPr>
          </a:p>
          <a:p>
            <a:r>
              <a:rPr lang="en-US" sz="1600" b="1" i="0" dirty="0">
                <a:solidFill>
                  <a:schemeClr val="accent4">
                    <a:lumMod val="75000"/>
                  </a:schemeClr>
                </a:solidFill>
                <a:effectLst/>
                <a:latin typeface="Arial Rounded MT Bold" panose="020F0704030504030204" pitchFamily="34" charset="0"/>
              </a:rPr>
              <a:t>5. Wind speed (m/s</a:t>
            </a:r>
            <a:r>
              <a:rPr lang="en-US" sz="1600" b="0" i="0" dirty="0">
                <a:solidFill>
                  <a:schemeClr val="accent4">
                    <a:lumMod val="75000"/>
                  </a:schemeClr>
                </a:solidFill>
                <a:effectLst/>
                <a:latin typeface="Arial Rounded MT Bold" panose="020F0704030504030204" pitchFamily="34" charset="0"/>
              </a:rPr>
              <a:t>) =  [2.2, 0.8, 1.0, 0.9, 2.3, 1.5, 1.3, 1.1, 0.5,</a:t>
            </a:r>
          </a:p>
          <a:p>
            <a:endParaRPr lang="en-US" sz="1600" dirty="0">
              <a:solidFill>
                <a:schemeClr val="accent4">
                  <a:lumMod val="75000"/>
                </a:schemeClr>
              </a:solidFill>
              <a:latin typeface="Arial Rounded MT Bold" panose="020F0704030504030204" pitchFamily="34" charset="0"/>
            </a:endParaRPr>
          </a:p>
          <a:p>
            <a:r>
              <a:rPr lang="en-US" sz="1600" b="1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6.</a:t>
            </a:r>
            <a:r>
              <a:rPr lang="en-US" sz="1600" b="1" i="0" dirty="0">
                <a:solidFill>
                  <a:schemeClr val="accent4">
                    <a:lumMod val="75000"/>
                  </a:schemeClr>
                </a:solidFill>
                <a:effectLst/>
                <a:latin typeface="Arial Rounded MT Bold" panose="020F0704030504030204" pitchFamily="34" charset="0"/>
              </a:rPr>
              <a:t>Visibility (10m)  = </a:t>
            </a:r>
            <a:r>
              <a:rPr lang="en-US" sz="1600" b="0" i="0" dirty="0">
                <a:solidFill>
                  <a:schemeClr val="accent4">
                    <a:lumMod val="75000"/>
                  </a:schemeClr>
                </a:solidFill>
                <a:effectLst/>
                <a:latin typeface="Arial Rounded MT Bold" panose="020F0704030504030204" pitchFamily="34" charset="0"/>
              </a:rPr>
              <a:t>[2000, 1928, 1996, 1936, 793, 1913, 1687, 1380... </a:t>
            </a:r>
          </a:p>
          <a:p>
            <a:endParaRPr lang="en-US" sz="1600" b="1" dirty="0">
              <a:solidFill>
                <a:schemeClr val="accent4">
                  <a:lumMod val="75000"/>
                </a:schemeClr>
              </a:solidFill>
              <a:latin typeface="Arial Rounded MT Bold" panose="020F0704030504030204" pitchFamily="34" charset="0"/>
            </a:endParaRPr>
          </a:p>
          <a:p>
            <a:r>
              <a:rPr lang="en-US" sz="1600" b="1" i="0" dirty="0">
                <a:solidFill>
                  <a:schemeClr val="accent4">
                    <a:lumMod val="75000"/>
                  </a:schemeClr>
                </a:solidFill>
                <a:effectLst/>
                <a:latin typeface="Arial Rounded MT Bold" panose="020F0704030504030204" pitchFamily="34" charset="0"/>
              </a:rPr>
              <a:t>7.Dew point temperature(°C) =  </a:t>
            </a:r>
            <a:r>
              <a:rPr lang="en-US" sz="1600" b="0" i="0" dirty="0">
                <a:solidFill>
                  <a:schemeClr val="accent4">
                    <a:lumMod val="75000"/>
                  </a:schemeClr>
                </a:solidFill>
                <a:effectLst/>
                <a:latin typeface="Arial Rounded MT Bold" panose="020F0704030504030204" pitchFamily="34" charset="0"/>
              </a:rPr>
              <a:t>[-17.6, -17.7, -18.6, -18.7, -19.5, -19.3, -19...</a:t>
            </a:r>
          </a:p>
          <a:p>
            <a:endParaRPr lang="en-US" sz="1600" dirty="0">
              <a:solidFill>
                <a:schemeClr val="accent4">
                  <a:lumMod val="75000"/>
                </a:schemeClr>
              </a:solidFill>
              <a:latin typeface="Arial Rounded MT Bold" panose="020F0704030504030204" pitchFamily="34" charset="0"/>
            </a:endParaRPr>
          </a:p>
          <a:p>
            <a:r>
              <a:rPr lang="en-US" sz="1600" b="1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8.</a:t>
            </a:r>
            <a:r>
              <a:rPr lang="en-US" sz="1600" b="1" i="0" dirty="0">
                <a:solidFill>
                  <a:schemeClr val="accent4">
                    <a:lumMod val="75000"/>
                  </a:schemeClr>
                </a:solidFill>
                <a:effectLst/>
                <a:latin typeface="Arial Rounded MT Bold" panose="020F0704030504030204" pitchFamily="34" charset="0"/>
              </a:rPr>
              <a:t>Solar Radiation (MJ/m2</a:t>
            </a:r>
            <a:r>
              <a:rPr lang="en-US" sz="1600" b="0" i="0" dirty="0">
                <a:solidFill>
                  <a:schemeClr val="accent4">
                    <a:lumMod val="75000"/>
                  </a:schemeClr>
                </a:solidFill>
                <a:effectLst/>
                <a:latin typeface="Arial Rounded MT Bold" panose="020F0704030504030204" pitchFamily="34" charset="0"/>
              </a:rPr>
              <a:t>) =  [0.0, 0.01, 0.23, 0.65, 0.94, 1.11, 1.16, 1.01... </a:t>
            </a:r>
          </a:p>
          <a:p>
            <a:endParaRPr lang="en-US" sz="1200" dirty="0">
              <a:solidFill>
                <a:schemeClr val="accent4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F2EEFA-CB7F-B893-8A3D-49F2EBCDFB4F}"/>
              </a:ext>
            </a:extLst>
          </p:cNvPr>
          <p:cNvSpPr txBox="1"/>
          <p:nvPr/>
        </p:nvSpPr>
        <p:spPr>
          <a:xfrm>
            <a:off x="5995331" y="948690"/>
            <a:ext cx="608481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9.Rainfall(mm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)  = [0.0, 0.5, 1.0, 2.5, 0.1, 0.2, 0.3, 0.7, 1.6, ...</a:t>
            </a:r>
          </a:p>
          <a:p>
            <a:endParaRPr lang="en-US" dirty="0">
              <a:solidFill>
                <a:schemeClr val="accent4">
                  <a:lumMod val="75000"/>
                </a:schemeClr>
              </a:solidFill>
              <a:latin typeface="Arial Rounded MT Bold" panose="020F0704030504030204" pitchFamily="34" charset="0"/>
            </a:endParaRP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10.Snowfall (cm) = 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[0.0, 0.1, 0.3, 0.4, 0.2, 1.0, 0.9, 0.8, 0.7, ... </a:t>
            </a:r>
          </a:p>
          <a:p>
            <a:endParaRPr lang="en-US" dirty="0">
              <a:solidFill>
                <a:schemeClr val="accent4">
                  <a:lumMod val="75000"/>
                </a:schemeClr>
              </a:solidFill>
              <a:latin typeface="Arial Rounded MT Bold" panose="020F0704030504030204" pitchFamily="34" charset="0"/>
            </a:endParaRP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11.Seasons = 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[Winter, Spring, Summer, Autumn]</a:t>
            </a:r>
          </a:p>
          <a:p>
            <a:endParaRPr lang="en-US" dirty="0">
              <a:solidFill>
                <a:schemeClr val="accent4">
                  <a:lumMod val="75000"/>
                </a:schemeClr>
              </a:solidFill>
              <a:latin typeface="Arial Rounded MT Bold" panose="020F0704030504030204" pitchFamily="34" charset="0"/>
            </a:endParaRP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12.Holiday = 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[No Holiday, Holiday]</a:t>
            </a:r>
          </a:p>
          <a:p>
            <a:endParaRPr lang="en-US" b="1" dirty="0">
              <a:solidFill>
                <a:schemeClr val="accent4">
                  <a:lumMod val="75000"/>
                </a:schemeClr>
              </a:solidFill>
              <a:latin typeface="Arial Rounded MT Bold" panose="020F0704030504030204" pitchFamily="34" charset="0"/>
            </a:endParaRP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13. Functioning Day  =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[Yes, No] </a:t>
            </a:r>
          </a:p>
          <a:p>
            <a:endParaRPr lang="en-US" dirty="0">
              <a:solidFill>
                <a:schemeClr val="accent4">
                  <a:lumMod val="75000"/>
                </a:schemeClr>
              </a:solidFill>
              <a:latin typeface="Arial Rounded MT Bold" panose="020F0704030504030204" pitchFamily="34" charset="0"/>
            </a:endParaRP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14.Day = 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[1, 2, 3, 4, 5, 6, 7, 8, 9, 10, 11, 12, 13, 14...</a:t>
            </a:r>
          </a:p>
          <a:p>
            <a:endParaRPr lang="en-US" dirty="0">
              <a:solidFill>
                <a:schemeClr val="accent4">
                  <a:lumMod val="75000"/>
                </a:schemeClr>
              </a:solidFill>
              <a:latin typeface="Arial Rounded MT Bold" panose="020F0704030504030204" pitchFamily="34" charset="0"/>
            </a:endParaRP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15.Month = 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[12, 1, 2, 3, 4, 5, 6, 7, 8, 9, 10, 11] </a:t>
            </a:r>
          </a:p>
          <a:p>
            <a:endParaRPr lang="en-US" dirty="0">
              <a:solidFill>
                <a:schemeClr val="accent4">
                  <a:lumMod val="75000"/>
                </a:schemeClr>
              </a:solidFill>
              <a:latin typeface="Arial Rounded MT Bold" panose="020F0704030504030204" pitchFamily="34" charset="0"/>
            </a:endParaRP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16.Year = 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[2017, 2018] </a:t>
            </a:r>
          </a:p>
          <a:p>
            <a:endParaRPr lang="en-US" dirty="0">
              <a:solidFill>
                <a:schemeClr val="accent4">
                  <a:lumMod val="75000"/>
                </a:schemeClr>
              </a:solidFill>
              <a:latin typeface="Arial Rounded MT Bold" panose="020F0704030504030204" pitchFamily="34" charset="0"/>
            </a:endParaRP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17.WeekDay  =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[Friday, Saturday, Sunday, Monday, Tuesday, We... 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Rounded MT Bold" panose="020F0704030504030204" pitchFamily="34" charset="0"/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A628A6-39B6-BEEF-8425-48FFA5BFA00F}"/>
              </a:ext>
            </a:extLst>
          </p:cNvPr>
          <p:cNvSpPr txBox="1"/>
          <p:nvPr/>
        </p:nvSpPr>
        <p:spPr>
          <a:xfrm>
            <a:off x="2223083" y="385894"/>
            <a:ext cx="73655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chemeClr val="accent6"/>
                </a:solidFill>
              </a:rPr>
              <a:t>Unique Variables in dataset </a:t>
            </a:r>
            <a:endParaRPr lang="en-IN" sz="32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1805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8D4C3FAD-1899-238C-B404-888CECA59C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739" y="3442110"/>
            <a:ext cx="3430521" cy="32226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0FB7645-A4E1-3639-D8A9-E4647C8263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5632" y="3442110"/>
            <a:ext cx="3234673" cy="32183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F542A54-666D-F066-BB1A-D78FA26B32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7173" y="158765"/>
            <a:ext cx="2787446" cy="29993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2A2CF83-0D59-582A-CCE7-B3492B279B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670" y="227771"/>
            <a:ext cx="2956892" cy="29303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1B140A-3095-0B95-459F-07F777A5A3EB}"/>
              </a:ext>
            </a:extLst>
          </p:cNvPr>
          <p:cNvSpPr txBox="1"/>
          <p:nvPr/>
        </p:nvSpPr>
        <p:spPr>
          <a:xfrm>
            <a:off x="268049" y="88785"/>
            <a:ext cx="588947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Raw data Total - 8760 Rows &amp; 14 Columns </a:t>
            </a:r>
          </a:p>
          <a:p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Created Day , Month , Year column &amp; Date column deleted  then I Reset index </a:t>
            </a:r>
          </a:p>
          <a:p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Now we having total 18 Columns &amp; 8760 Rows </a:t>
            </a:r>
          </a:p>
          <a:p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No duplicate values found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No null records found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8BDB34-A62B-E40D-49FE-B344F27068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983" y="3429000"/>
            <a:ext cx="3364384" cy="32226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55659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704984-D98A-9BD6-CD02-8867056982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29" y="187477"/>
            <a:ext cx="2788438" cy="40405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3D41FE-6309-6E9D-4438-B79AD7AB30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386" y="2553155"/>
            <a:ext cx="2702108" cy="38518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82F56E-8F39-DC67-F984-A37ED0D7A5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973" y="187477"/>
            <a:ext cx="2460771" cy="39216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66A7C1-1F0D-EF17-B5D4-EE6B2585D7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3892" y="2553155"/>
            <a:ext cx="2702108" cy="38518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46368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7084B3-69A1-9CAC-F7FC-C17E47358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650" y="199602"/>
            <a:ext cx="11646699" cy="645879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9975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5ECA3A-40D1-C4A8-F6D9-126C5A7012ED}"/>
              </a:ext>
            </a:extLst>
          </p:cNvPr>
          <p:cNvSpPr txBox="1"/>
          <p:nvPr/>
        </p:nvSpPr>
        <p:spPr>
          <a:xfrm>
            <a:off x="450909" y="325495"/>
            <a:ext cx="1167957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✅ From the above  pair plot I found that in  year </a:t>
            </a:r>
            <a:r>
              <a:rPr lang="en-US" b="1" dirty="0"/>
              <a:t>2017 rented bike count decrease  </a:t>
            </a:r>
            <a:r>
              <a:rPr lang="en-US" dirty="0"/>
              <a:t>&amp; in  year </a:t>
            </a:r>
            <a:r>
              <a:rPr lang="en-US" b="1" dirty="0"/>
              <a:t>2018 rented bike count is increase.</a:t>
            </a:r>
          </a:p>
          <a:p>
            <a:endParaRPr lang="en-US" dirty="0"/>
          </a:p>
          <a:p>
            <a:r>
              <a:rPr lang="en-US" dirty="0"/>
              <a:t>✅ In  </a:t>
            </a:r>
            <a:r>
              <a:rPr lang="en-US" b="1" dirty="0"/>
              <a:t>month 2 &amp; 10 bike demand decrease  </a:t>
            </a:r>
            <a:r>
              <a:rPr lang="en-US" dirty="0"/>
              <a:t>and in  </a:t>
            </a:r>
            <a:r>
              <a:rPr lang="en-US" b="1" dirty="0"/>
              <a:t>6th month bike demand increase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✅ whenever </a:t>
            </a:r>
            <a:r>
              <a:rPr lang="en-US" b="1" dirty="0"/>
              <a:t>snowfall demand is increased between o to 4  &amp; rainfall demand between 0 to 5 increase or equitable</a:t>
            </a:r>
          </a:p>
          <a:p>
            <a:endParaRPr lang="en-US" dirty="0"/>
          </a:p>
          <a:p>
            <a:r>
              <a:rPr lang="en-US" dirty="0"/>
              <a:t>✅ we can say snowfall and rainfall not impacting drastically on demands of rented bike.</a:t>
            </a:r>
          </a:p>
          <a:p>
            <a:endParaRPr lang="en-US" dirty="0"/>
          </a:p>
          <a:p>
            <a:r>
              <a:rPr lang="en-US" dirty="0"/>
              <a:t>✅ </a:t>
            </a:r>
            <a:r>
              <a:rPr lang="en-US" b="1" dirty="0"/>
              <a:t>solar radiation and dew point temperature </a:t>
            </a:r>
            <a:r>
              <a:rPr lang="en-US" dirty="0"/>
              <a:t>shows that  </a:t>
            </a:r>
            <a:r>
              <a:rPr lang="en-US" b="1" dirty="0"/>
              <a:t>temperature decreases the bike demand increases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147A3A-7EEF-5EBD-FC77-90A3E6E7D6D3}"/>
              </a:ext>
            </a:extLst>
          </p:cNvPr>
          <p:cNvSpPr txBox="1"/>
          <p:nvPr/>
        </p:nvSpPr>
        <p:spPr>
          <a:xfrm>
            <a:off x="450909" y="3670184"/>
            <a:ext cx="1116434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✅ As the </a:t>
            </a:r>
            <a:r>
              <a:rPr lang="en-US" b="1" dirty="0"/>
              <a:t>visibility in bike demand increase </a:t>
            </a:r>
            <a:r>
              <a:rPr lang="en-US" dirty="0"/>
              <a:t>and vice versa of this.</a:t>
            </a:r>
          </a:p>
          <a:p>
            <a:endParaRPr lang="en-US" dirty="0"/>
          </a:p>
          <a:p>
            <a:r>
              <a:rPr lang="en-US" dirty="0"/>
              <a:t>✅ </a:t>
            </a:r>
            <a:r>
              <a:rPr lang="en-US" b="1" dirty="0"/>
              <a:t>Humidity between 20 to 80% demand </a:t>
            </a:r>
            <a:r>
              <a:rPr lang="en-US" dirty="0"/>
              <a:t>is scale is </a:t>
            </a:r>
            <a:r>
              <a:rPr lang="en-US" b="1" dirty="0"/>
              <a:t>high but at 0% low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✅ wind speed not affecting much to bike demand.</a:t>
            </a:r>
          </a:p>
          <a:p>
            <a:endParaRPr lang="en-US" dirty="0"/>
          </a:p>
          <a:p>
            <a:r>
              <a:rPr lang="en-US" b="1" dirty="0"/>
              <a:t>✅ Hour 18 and 8 shows  bike demand is high  </a:t>
            </a:r>
            <a:r>
              <a:rPr lang="en-US" dirty="0"/>
              <a:t>but at  </a:t>
            </a:r>
            <a:r>
              <a:rPr lang="en-US" b="1" dirty="0"/>
              <a:t>4 -  5  Hour bike demand low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✅ </a:t>
            </a:r>
            <a:r>
              <a:rPr lang="en-US" b="1" dirty="0"/>
              <a:t>Rented bike demand in dataset showing decreasing.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476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DBB1A5F-288F-63C7-450D-CAFA47FD6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459" y="245807"/>
            <a:ext cx="6048462" cy="63663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A51E7F-9A13-D844-BDEF-7F4C4AEBF11B}"/>
              </a:ext>
            </a:extLst>
          </p:cNvPr>
          <p:cNvSpPr txBox="1"/>
          <p:nvPr/>
        </p:nvSpPr>
        <p:spPr>
          <a:xfrm>
            <a:off x="162186" y="1333849"/>
            <a:ext cx="537454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✅ Above </a:t>
            </a:r>
            <a:r>
              <a:rPr lang="en-IN" b="1" dirty="0"/>
              <a:t>Bar plot </a:t>
            </a:r>
            <a:r>
              <a:rPr lang="en-IN" dirty="0"/>
              <a:t>shows </a:t>
            </a:r>
            <a:r>
              <a:rPr lang="en-IN" b="1" dirty="0"/>
              <a:t>6 that is  July month </a:t>
            </a:r>
            <a:r>
              <a:rPr lang="en-IN" dirty="0"/>
              <a:t>having </a:t>
            </a:r>
            <a:r>
              <a:rPr lang="en-IN" b="1" dirty="0"/>
              <a:t>highest number  </a:t>
            </a:r>
            <a:r>
              <a:rPr lang="en-IN" dirty="0"/>
              <a:t>of rented bike count and  growing market demand  </a:t>
            </a:r>
            <a:r>
              <a:rPr lang="en-IN" b="1" dirty="0"/>
              <a:t>during early summer 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dirty="0"/>
              <a:t> ✅ month </a:t>
            </a:r>
            <a:r>
              <a:rPr lang="en-IN" b="1" dirty="0"/>
              <a:t>January and February </a:t>
            </a:r>
            <a:r>
              <a:rPr lang="en-IN" dirty="0"/>
              <a:t>showing  </a:t>
            </a:r>
            <a:r>
              <a:rPr lang="en-IN" b="1" dirty="0"/>
              <a:t>lowest</a:t>
            </a:r>
            <a:r>
              <a:rPr lang="en-IN" dirty="0"/>
              <a:t> </a:t>
            </a:r>
            <a:r>
              <a:rPr lang="en-IN" b="1" dirty="0"/>
              <a:t>demand</a:t>
            </a:r>
            <a:r>
              <a:rPr lang="en-IN" dirty="0"/>
              <a:t> of bike in Seoul </a:t>
            </a:r>
            <a:r>
              <a:rPr lang="en-IN" b="1" dirty="0"/>
              <a:t>due to snowfall </a:t>
            </a:r>
            <a:r>
              <a:rPr lang="en-IN" dirty="0"/>
              <a:t>or other weather conditions reduces demand </a:t>
            </a:r>
          </a:p>
          <a:p>
            <a:endParaRPr lang="en-IN" dirty="0"/>
          </a:p>
          <a:p>
            <a:r>
              <a:rPr lang="en-IN" dirty="0"/>
              <a:t> ✅ </a:t>
            </a:r>
            <a:r>
              <a:rPr lang="en-IN" b="1" dirty="0"/>
              <a:t>High demand </a:t>
            </a:r>
            <a:r>
              <a:rPr lang="en-IN" dirty="0"/>
              <a:t>from </a:t>
            </a:r>
            <a:r>
              <a:rPr lang="en-IN" b="1" dirty="0"/>
              <a:t>May to October </a:t>
            </a:r>
            <a:r>
              <a:rPr lang="en-IN" dirty="0"/>
              <a:t>as the </a:t>
            </a:r>
            <a:r>
              <a:rPr lang="en-IN" b="1" dirty="0"/>
              <a:t>favourable weather </a:t>
            </a:r>
            <a:r>
              <a:rPr lang="en-IN" dirty="0"/>
              <a:t>boosts usage.</a:t>
            </a:r>
          </a:p>
          <a:p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Gradual rise from winter to summer</a:t>
            </a:r>
            <a:r>
              <a:rPr lang="en-IN" dirty="0"/>
              <a:t>, then decline toward winter  its clear seasonal pattern</a:t>
            </a:r>
          </a:p>
        </p:txBody>
      </p:sp>
    </p:spTree>
    <p:extLst>
      <p:ext uri="{BB962C8B-B14F-4D97-AF65-F5344CB8AC3E}">
        <p14:creationId xmlns:p14="http://schemas.microsoft.com/office/powerpoint/2010/main" val="5519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0E65089-9C14-E8B6-C8E8-23FAF3BF7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19" y="207627"/>
            <a:ext cx="6185483" cy="64427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8DC0738-E803-D973-BB3D-3C11C1465275}"/>
              </a:ext>
            </a:extLst>
          </p:cNvPr>
          <p:cNvSpPr txBox="1"/>
          <p:nvPr/>
        </p:nvSpPr>
        <p:spPr>
          <a:xfrm>
            <a:off x="6853805" y="2562323"/>
            <a:ext cx="482366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✅   </a:t>
            </a:r>
            <a:r>
              <a:rPr lang="en-US" b="1" dirty="0"/>
              <a:t>Day 13 </a:t>
            </a:r>
            <a:r>
              <a:rPr lang="en-US" dirty="0"/>
              <a:t>showcasing  </a:t>
            </a:r>
            <a:r>
              <a:rPr lang="en-US" b="1" dirty="0"/>
              <a:t>major demand  </a:t>
            </a:r>
            <a:r>
              <a:rPr lang="en-US" dirty="0"/>
              <a:t>fairly consistent across days of  rented bikes.</a:t>
            </a:r>
          </a:p>
          <a:p>
            <a:endParaRPr lang="en-US" dirty="0"/>
          </a:p>
          <a:p>
            <a:r>
              <a:rPr lang="en-US" dirty="0"/>
              <a:t>✅   </a:t>
            </a:r>
            <a:r>
              <a:rPr lang="en-US" b="1" dirty="0"/>
              <a:t>Day 9 and 31  </a:t>
            </a:r>
            <a:r>
              <a:rPr lang="en-US" dirty="0"/>
              <a:t>shows  </a:t>
            </a:r>
            <a:r>
              <a:rPr lang="en-US" b="1" dirty="0"/>
              <a:t>less demand  </a:t>
            </a:r>
            <a:r>
              <a:rPr lang="en-US" dirty="0"/>
              <a:t>compare with other days. may be due to external factors (weather/holidays)</a:t>
            </a:r>
          </a:p>
          <a:p>
            <a:endParaRPr lang="en-US" dirty="0"/>
          </a:p>
          <a:p>
            <a:r>
              <a:rPr lang="en-US" dirty="0"/>
              <a:t>✅ Slight peaks around </a:t>
            </a:r>
            <a:r>
              <a:rPr lang="en-US" b="1" dirty="0"/>
              <a:t>mid-month (13-15, 20-25)</a:t>
            </a:r>
            <a:r>
              <a:rPr lang="en-US" dirty="0"/>
              <a:t> , possible </a:t>
            </a:r>
            <a:r>
              <a:rPr lang="en-US" b="1" dirty="0"/>
              <a:t>salary period or increased activity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6967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52C6B316-E154-5B16-B6CF-6C406A09B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3722" y="538947"/>
            <a:ext cx="5942201" cy="59143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E1BBEC-B575-162F-5A47-15961BAEC4A0}"/>
              </a:ext>
            </a:extLst>
          </p:cNvPr>
          <p:cNvSpPr txBox="1"/>
          <p:nvPr/>
        </p:nvSpPr>
        <p:spPr>
          <a:xfrm>
            <a:off x="503339" y="1233954"/>
            <a:ext cx="527667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✅ </a:t>
            </a:r>
            <a:r>
              <a:rPr lang="en-US" b="1" dirty="0"/>
              <a:t>Hour 17-19 (means 5-7 Pm ) representing high bike demands. highest rentals, likely office commute time </a:t>
            </a:r>
          </a:p>
          <a:p>
            <a:endParaRPr lang="en-US" dirty="0"/>
          </a:p>
          <a:p>
            <a:r>
              <a:rPr lang="en-US" dirty="0"/>
              <a:t> ✅ </a:t>
            </a:r>
            <a:r>
              <a:rPr lang="en-US" b="1" dirty="0"/>
              <a:t>Hour 4 and 5 o'clock lowest  bike demand </a:t>
            </a:r>
            <a:r>
              <a:rPr lang="en-US" dirty="0"/>
              <a:t>in city, minimal usage </a:t>
            </a:r>
            <a:r>
              <a:rPr lang="en-US" b="1" dirty="0"/>
              <a:t>during late night or early morning</a:t>
            </a:r>
          </a:p>
          <a:p>
            <a:endParaRPr lang="en-US" dirty="0"/>
          </a:p>
          <a:p>
            <a:r>
              <a:rPr lang="en-US" dirty="0"/>
              <a:t>✅ </a:t>
            </a:r>
            <a:r>
              <a:rPr lang="en-US" b="1" dirty="0"/>
              <a:t>Morning peak around 8 AM, </a:t>
            </a:r>
            <a:r>
              <a:rPr lang="en-US" dirty="0"/>
              <a:t>secondary spike (work/school travel)</a:t>
            </a:r>
          </a:p>
          <a:p>
            <a:endParaRPr lang="en-US" dirty="0"/>
          </a:p>
          <a:p>
            <a:r>
              <a:rPr lang="en-US" dirty="0"/>
              <a:t> ✅ Demand steadily rises from noon to evening, strong afternoon usage pattern</a:t>
            </a:r>
          </a:p>
          <a:p>
            <a:endParaRPr lang="en-US" dirty="0"/>
          </a:p>
          <a:p>
            <a:r>
              <a:rPr lang="en-US" dirty="0"/>
              <a:t> ✅ </a:t>
            </a:r>
            <a:r>
              <a:rPr lang="en-US" b="1" dirty="0"/>
              <a:t>Post 7 PM decline </a:t>
            </a:r>
            <a:r>
              <a:rPr lang="en-US" dirty="0"/>
              <a:t>,  rentals  decrease  after peak hours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5405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DBA5A199-E1BF-0154-D4F5-FBD968F02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913" y="704588"/>
            <a:ext cx="6307560" cy="57340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EA3E9C-3202-2021-AD98-174E6EBA3518}"/>
              </a:ext>
            </a:extLst>
          </p:cNvPr>
          <p:cNvSpPr txBox="1"/>
          <p:nvPr/>
        </p:nvSpPr>
        <p:spPr>
          <a:xfrm>
            <a:off x="7306810" y="2386479"/>
            <a:ext cx="43622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✅ </a:t>
            </a:r>
            <a:r>
              <a:rPr lang="en-US" b="1" dirty="0"/>
              <a:t>On No holiday  means working days the  200 bikes is extra high demand  compare with holiday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38886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B353E316-DFDB-5D78-372B-EA86BD809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3904" y="561975"/>
            <a:ext cx="5922628" cy="57340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69CE970-F925-4B03-6E95-AD9CD16C9236}"/>
              </a:ext>
            </a:extLst>
          </p:cNvPr>
          <p:cNvSpPr txBox="1"/>
          <p:nvPr/>
        </p:nvSpPr>
        <p:spPr>
          <a:xfrm>
            <a:off x="553673" y="1454976"/>
            <a:ext cx="513406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✅ we having four seasons winter, spring, summer, autumn</a:t>
            </a:r>
          </a:p>
          <a:p>
            <a:endParaRPr lang="en-US" dirty="0"/>
          </a:p>
          <a:p>
            <a:r>
              <a:rPr lang="en-US" dirty="0"/>
              <a:t>✅ </a:t>
            </a:r>
            <a:r>
              <a:rPr lang="en-US" b="1" dirty="0"/>
              <a:t>Summer season shows high demand  </a:t>
            </a:r>
            <a:r>
              <a:rPr lang="en-US" dirty="0"/>
              <a:t>for the rented bike as there </a:t>
            </a:r>
            <a:r>
              <a:rPr lang="en-US" b="1" dirty="0"/>
              <a:t>is  less rainfall </a:t>
            </a:r>
            <a:r>
              <a:rPr lang="en-US" dirty="0"/>
              <a:t>and </a:t>
            </a:r>
            <a:r>
              <a:rPr lang="en-US" b="1" dirty="0"/>
              <a:t>snowfall</a:t>
            </a:r>
            <a:r>
              <a:rPr lang="en-US" dirty="0"/>
              <a:t>  in city.</a:t>
            </a:r>
          </a:p>
          <a:p>
            <a:endParaRPr lang="en-US" dirty="0"/>
          </a:p>
          <a:p>
            <a:r>
              <a:rPr lang="en-US" dirty="0"/>
              <a:t> ✅ </a:t>
            </a:r>
            <a:r>
              <a:rPr lang="en-US" b="1" dirty="0"/>
              <a:t>winter season </a:t>
            </a:r>
            <a:r>
              <a:rPr lang="en-US" dirty="0"/>
              <a:t>reflects </a:t>
            </a:r>
            <a:r>
              <a:rPr lang="en-US" b="1" dirty="0"/>
              <a:t>snowfall  in Seoul </a:t>
            </a:r>
            <a:r>
              <a:rPr lang="en-US" dirty="0"/>
              <a:t>so the  </a:t>
            </a:r>
            <a:r>
              <a:rPr lang="en-US" b="1" dirty="0"/>
              <a:t>demand</a:t>
            </a:r>
            <a:r>
              <a:rPr lang="en-US" dirty="0"/>
              <a:t>  for bike also  </a:t>
            </a:r>
            <a:r>
              <a:rPr lang="en-US" b="1" dirty="0"/>
              <a:t>decreases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 ✅ Spring and autumn seasons have medium level of bike demand.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9123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>
            <a:extLst>
              <a:ext uri="{FF2B5EF4-FFF2-40B4-BE49-F238E27FC236}">
                <a16:creationId xmlns:a16="http://schemas.microsoft.com/office/drawing/2014/main" id="{BFAD527C-1531-E5BD-6EB9-DC85456E2D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23" y="671118"/>
            <a:ext cx="5849399" cy="53773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A367ED-7731-FF25-E4AD-C3FACD87CF45}"/>
              </a:ext>
            </a:extLst>
          </p:cNvPr>
          <p:cNvSpPr txBox="1"/>
          <p:nvPr/>
        </p:nvSpPr>
        <p:spPr>
          <a:xfrm>
            <a:off x="6526635" y="1853534"/>
            <a:ext cx="505017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✅   The </a:t>
            </a:r>
            <a:r>
              <a:rPr lang="en-US" b="1" dirty="0"/>
              <a:t>distribution is  right-skewed </a:t>
            </a:r>
            <a:r>
              <a:rPr lang="en-US" dirty="0"/>
              <a:t>, meaning most days have lower rented bike counts, with a few days showing very high demand.</a:t>
            </a:r>
          </a:p>
          <a:p>
            <a:endParaRPr lang="en-US" dirty="0"/>
          </a:p>
          <a:p>
            <a:r>
              <a:rPr lang="en-US" dirty="0"/>
              <a:t>There is a  </a:t>
            </a:r>
            <a:r>
              <a:rPr lang="en-US" b="1" dirty="0"/>
              <a:t>long tail </a:t>
            </a:r>
            <a:r>
              <a:rPr lang="en-US" dirty="0"/>
              <a:t>, indicating </a:t>
            </a:r>
            <a:r>
              <a:rPr lang="en-US" b="1" dirty="0"/>
              <a:t>occasional spikes </a:t>
            </a:r>
            <a:r>
              <a:rPr lang="en-US" dirty="0"/>
              <a:t>in rentals, likely due </a:t>
            </a:r>
            <a:r>
              <a:rPr lang="en-US" b="1" dirty="0"/>
              <a:t>to factors like weather, holidays, or events.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17868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5DB746A8-9752-55DA-47AC-470AEDCAF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1331" y="807439"/>
            <a:ext cx="5700276" cy="52431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90CA8F-D748-5535-0E27-E2D9B4358530}"/>
              </a:ext>
            </a:extLst>
          </p:cNvPr>
          <p:cNvSpPr txBox="1"/>
          <p:nvPr/>
        </p:nvSpPr>
        <p:spPr>
          <a:xfrm>
            <a:off x="310393" y="1720839"/>
            <a:ext cx="559401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✅ The </a:t>
            </a:r>
            <a:r>
              <a:rPr lang="en-US" b="1" dirty="0"/>
              <a:t>peak rental activity </a:t>
            </a:r>
            <a:r>
              <a:rPr lang="en-US" dirty="0"/>
              <a:t>occurs </a:t>
            </a:r>
            <a:r>
              <a:rPr lang="en-US" b="1" dirty="0"/>
              <a:t>around  15 bikes</a:t>
            </a:r>
            <a:r>
              <a:rPr lang="en-US" dirty="0"/>
              <a:t>, showing this is the most </a:t>
            </a:r>
            <a:r>
              <a:rPr lang="en-US" b="1" dirty="0"/>
              <a:t>common demand level</a:t>
            </a:r>
            <a:r>
              <a:rPr lang="en-US" dirty="0"/>
              <a:t>.  </a:t>
            </a:r>
          </a:p>
          <a:p>
            <a:endParaRPr lang="en-US" dirty="0"/>
          </a:p>
          <a:p>
            <a:r>
              <a:rPr lang="en-US" dirty="0"/>
              <a:t> ✅  The distribution </a:t>
            </a:r>
            <a:r>
              <a:rPr lang="en-US" b="1" dirty="0"/>
              <a:t>is  right-skewed </a:t>
            </a:r>
            <a:r>
              <a:rPr lang="en-US" dirty="0"/>
              <a:t>, </a:t>
            </a:r>
            <a:r>
              <a:rPr lang="en-US" b="1" dirty="0"/>
              <a:t>meaning higher rental counts are rare compared to lower ones.</a:t>
            </a:r>
          </a:p>
          <a:p>
            <a:endParaRPr lang="en-US" dirty="0"/>
          </a:p>
          <a:p>
            <a:r>
              <a:rPr lang="en-US" dirty="0"/>
              <a:t>✅  Rentals </a:t>
            </a:r>
            <a:r>
              <a:rPr lang="en-US" b="1" dirty="0"/>
              <a:t>above  40 bikes  </a:t>
            </a:r>
            <a:r>
              <a:rPr lang="en-US" dirty="0"/>
              <a:t>are </a:t>
            </a:r>
            <a:r>
              <a:rPr lang="en-US" b="1" dirty="0"/>
              <a:t>very  infrequent </a:t>
            </a:r>
            <a:r>
              <a:rPr lang="en-US" dirty="0"/>
              <a:t>, highlighting limited instances of high demand.  </a:t>
            </a:r>
          </a:p>
          <a:p>
            <a:endParaRPr lang="en-US" dirty="0"/>
          </a:p>
          <a:p>
            <a:r>
              <a:rPr lang="en-US" dirty="0"/>
              <a:t>✅ The histogram suggests that  small to moderate rentals dominate usage patterns , useful for resource planning.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2308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7504A0D9-AC4F-8FB1-4DC8-9D1EC640A8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13" y="138366"/>
            <a:ext cx="11755773" cy="65812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9800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5A19E4-502E-B444-8D73-A2B9194D4F72}"/>
              </a:ext>
            </a:extLst>
          </p:cNvPr>
          <p:cNvSpPr txBox="1"/>
          <p:nvPr/>
        </p:nvSpPr>
        <p:spPr>
          <a:xfrm>
            <a:off x="1333849" y="863146"/>
            <a:ext cx="9336947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US" sz="3200" b="1" dirty="0"/>
              <a:t>Insights from Heat map </a:t>
            </a:r>
          </a:p>
          <a:p>
            <a:endParaRPr lang="en-US" dirty="0"/>
          </a:p>
          <a:p>
            <a:r>
              <a:rPr lang="en-US" dirty="0"/>
              <a:t>✅ </a:t>
            </a:r>
            <a:r>
              <a:rPr lang="en-US" b="1" dirty="0"/>
              <a:t>Temperature (0.54) &amp; Dew Point (0.38)  </a:t>
            </a:r>
            <a:r>
              <a:rPr lang="en-US" dirty="0"/>
              <a:t>show  </a:t>
            </a:r>
            <a:r>
              <a:rPr lang="en-US" b="1" dirty="0"/>
              <a:t>strong positive correlation  </a:t>
            </a:r>
            <a:r>
              <a:rPr lang="en-US" dirty="0"/>
              <a:t>with bike rentals </a:t>
            </a:r>
            <a:r>
              <a:rPr lang="en-US" b="1" dirty="0"/>
              <a:t>,  warmer conditions  </a:t>
            </a:r>
            <a:r>
              <a:rPr lang="en-US" dirty="0"/>
              <a:t>significantly </a:t>
            </a:r>
            <a:r>
              <a:rPr lang="en-US" b="1" dirty="0"/>
              <a:t>increase demand.</a:t>
            </a:r>
          </a:p>
          <a:p>
            <a:endParaRPr lang="en-US" dirty="0"/>
          </a:p>
          <a:p>
            <a:r>
              <a:rPr lang="en-US" dirty="0"/>
              <a:t> ✅ </a:t>
            </a:r>
            <a:r>
              <a:rPr lang="en-US" b="1" dirty="0"/>
              <a:t>Humidity (-0.20), Snowfall (-0.14), Rainfall (-0.12)  negatively impact  </a:t>
            </a:r>
            <a:r>
              <a:rPr lang="en-US" dirty="0"/>
              <a:t>rentals </a:t>
            </a:r>
            <a:r>
              <a:rPr lang="en-US" b="1" dirty="0"/>
              <a:t>,  bad weather  reduces usage.</a:t>
            </a:r>
          </a:p>
          <a:p>
            <a:endParaRPr lang="en-US" dirty="0"/>
          </a:p>
          <a:p>
            <a:r>
              <a:rPr lang="en-US" dirty="0"/>
              <a:t> ✅ </a:t>
            </a:r>
            <a:r>
              <a:rPr lang="en-US" b="1" dirty="0"/>
              <a:t>Hour (0.41)  has a  good positive correlation  </a:t>
            </a:r>
            <a:r>
              <a:rPr lang="en-US" dirty="0"/>
              <a:t>, rentals depend heavily on time of day (peak hours matter).</a:t>
            </a:r>
          </a:p>
          <a:p>
            <a:endParaRPr lang="en-US" dirty="0"/>
          </a:p>
          <a:p>
            <a:r>
              <a:rPr lang="en-US" dirty="0"/>
              <a:t> ✅ </a:t>
            </a:r>
            <a:r>
              <a:rPr lang="en-US" b="1" dirty="0"/>
              <a:t>Solar Radiation (0.26) &amp; Visibility (0.20) positively influence demand ,  clearer, sunnier days boost rentals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 ✅ </a:t>
            </a:r>
            <a:r>
              <a:rPr lang="en-US" b="1" dirty="0"/>
              <a:t>Temperature &amp; Dew Point (0.91)  are highly correlated </a:t>
            </a:r>
            <a:r>
              <a:rPr lang="en-US" dirty="0"/>
              <a:t>, avoid using both together to prevent multicollinearity.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0899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10F4D4-0FF5-162F-2E4B-6CFF256E61C4}"/>
              </a:ext>
            </a:extLst>
          </p:cNvPr>
          <p:cNvSpPr txBox="1"/>
          <p:nvPr/>
        </p:nvSpPr>
        <p:spPr>
          <a:xfrm>
            <a:off x="939567" y="1175000"/>
            <a:ext cx="1023876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✅  </a:t>
            </a:r>
            <a:r>
              <a:rPr lang="en-US" b="1" dirty="0"/>
              <a:t>Focus on peak hours (8 AM &amp; 5-7 PM) it ensure maximum bike availability during commute times</a:t>
            </a:r>
          </a:p>
          <a:p>
            <a:endParaRPr lang="en-US" b="1" dirty="0"/>
          </a:p>
          <a:p>
            <a:r>
              <a:rPr lang="en-US" dirty="0"/>
              <a:t> ✅ </a:t>
            </a:r>
            <a:r>
              <a:rPr lang="en-US" b="1" dirty="0"/>
              <a:t>Leverage summer months (May-Oct)  </a:t>
            </a:r>
            <a:r>
              <a:rPr lang="en-US" dirty="0"/>
              <a:t>could  run promotions, expand fleet, and increase pricing strategically</a:t>
            </a:r>
          </a:p>
          <a:p>
            <a:endParaRPr lang="en-US" dirty="0"/>
          </a:p>
          <a:p>
            <a:r>
              <a:rPr lang="en-US" dirty="0"/>
              <a:t> ✅  </a:t>
            </a:r>
            <a:r>
              <a:rPr lang="en-US" b="1" dirty="0"/>
              <a:t>Reduce impact of bad weather  </a:t>
            </a:r>
            <a:r>
              <a:rPr lang="en-US" dirty="0"/>
              <a:t>by offering  discounts or incentives during rain, snow, or high humidity</a:t>
            </a:r>
          </a:p>
          <a:p>
            <a:endParaRPr lang="en-US" dirty="0"/>
          </a:p>
          <a:p>
            <a:r>
              <a:rPr lang="en-US" dirty="0"/>
              <a:t> ✅  Use </a:t>
            </a:r>
            <a:r>
              <a:rPr lang="en-US" b="1" dirty="0"/>
              <a:t>weather-based demand prediction  </a:t>
            </a:r>
            <a:r>
              <a:rPr lang="en-US" dirty="0"/>
              <a:t>for better Planning  operations based on </a:t>
            </a:r>
            <a:r>
              <a:rPr lang="en-US" b="1" dirty="0"/>
              <a:t>temperature &amp; clear weather conditions</a:t>
            </a:r>
          </a:p>
          <a:p>
            <a:endParaRPr lang="en-US" dirty="0"/>
          </a:p>
          <a:p>
            <a:r>
              <a:rPr lang="en-US" dirty="0"/>
              <a:t> ✅ </a:t>
            </a:r>
            <a:r>
              <a:rPr lang="en-US" b="1" dirty="0"/>
              <a:t>Optimize low-demand periods (night/winter)  by introduce offers</a:t>
            </a:r>
            <a:r>
              <a:rPr lang="en-US" dirty="0"/>
              <a:t>, subscriptions, or alternate use cases</a:t>
            </a:r>
          </a:p>
          <a:p>
            <a:endParaRPr lang="en-US" dirty="0"/>
          </a:p>
          <a:p>
            <a:r>
              <a:rPr lang="en-US" dirty="0"/>
              <a:t>✅ </a:t>
            </a:r>
            <a:r>
              <a:rPr lang="en-US" b="1" dirty="0"/>
              <a:t>Final Strategy  is Combine  time , weather &amp; seasonality  to maximize demand, pricing, and bike availability 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CA9B2F-75C6-B642-6057-3DF0F400E650}"/>
              </a:ext>
            </a:extLst>
          </p:cNvPr>
          <p:cNvSpPr txBox="1"/>
          <p:nvPr/>
        </p:nvSpPr>
        <p:spPr>
          <a:xfrm>
            <a:off x="4269996" y="251670"/>
            <a:ext cx="2793534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</a:rPr>
              <a:t>Conclusion</a:t>
            </a:r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C72616-69AA-6E37-64A8-DC6B672D83A0}"/>
              </a:ext>
            </a:extLst>
          </p:cNvPr>
          <p:cNvSpPr txBox="1"/>
          <p:nvPr/>
        </p:nvSpPr>
        <p:spPr>
          <a:xfrm>
            <a:off x="3011648" y="6157519"/>
            <a:ext cx="6115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Thank you</a:t>
            </a:r>
            <a:r>
              <a:rPr lang="en-US" b="1" dirty="0"/>
              <a:t>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1759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343</TotalTime>
  <Words>1563</Words>
  <Application>Microsoft Office PowerPoint</Application>
  <PresentationFormat>Widescreen</PresentationFormat>
  <Paragraphs>131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Arial Rounded MT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geeta torane</dc:creator>
  <cp:lastModifiedBy>geeta torane</cp:lastModifiedBy>
  <cp:revision>4</cp:revision>
  <dcterms:created xsi:type="dcterms:W3CDTF">2026-03-20T13:04:01Z</dcterms:created>
  <dcterms:modified xsi:type="dcterms:W3CDTF">2026-03-23T04:31:42Z</dcterms:modified>
</cp:coreProperties>
</file>